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2" Type="http://schemas.openxmlformats.org/officeDocument/2006/relationships/presProps" Target="presProps.xml" /><Relationship Id="rId53" Type="http://schemas.openxmlformats.org/officeDocument/2006/relationships/viewProps" Target="viewProps.xml" /><Relationship Id="rId54" Type="http://schemas.openxmlformats.org/officeDocument/2006/relationships/theme" Target="theme/theme1.xml" /><Relationship Id="rId55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e adoção mostram se o produto está sendo aproveitado de verdade. Receita e retenção mostram a saúde financeira do negócio. Satisfação mostra se o cliente recomendaria o produto a outra pessoa. Os três juntos dão uma visão completa; olhar só para um deles esconde parte do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 tentador comemorar números grandes e visíveis, como total de downloads ou visitas. Mas esses números podem crescer mesmo que o produto não esteja gerando valor real. O time de negócio deve sempre perguntar: essa métrica prova que o cliente está satisfeito e vai continuar pagando?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o risco de cancelamento é baixo, o próprio sistema entra em contato com o cliente, lembrando do valor da apólice antes do vencimento. Quando o risco é alto ou o caso é mais sensível, a prioridade passa para um corretor humano, que consegue agir a tempo em vez de descobrir a perda só na hora da renovação.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8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1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Como medir o sucesso de um produto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Fechando com um caso prático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papéis,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Owner: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Engineer: a costura entre os sistemas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ampla, além de uma única funcionalidade</a:t>
            </a:r>
          </a:p>
          <a:p>
            <a:pPr lvl="0"/>
            <a:r>
              <a:rPr/>
              <a:t>Garante que as diferentes partes do sistema conversem entre si sem atrito</a:t>
            </a:r>
          </a:p>
          <a:p>
            <a:pPr lvl="0"/>
            <a:r>
              <a:rPr/>
              <a:t>Cuida da integração com sistemas de parceiros e de outras áreas da empresa</a:t>
            </a:r>
          </a:p>
          <a:p>
            <a:pPr lvl="0"/>
            <a:r>
              <a:rPr/>
              <a:t>Pensa em crescimento futuro: a solução precisa continuar funcionando bem quando o uso aumentar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Lead: qualidade e liderança técnica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Lidera o time responsável por construir a solução no dia a dia</a:t>
            </a:r>
          </a:p>
          <a:p>
            <a:pPr lvl="0"/>
            <a:r>
              <a:rPr/>
              <a:t>Decide, junto com o time, a melhor forma técnica de resolver cada problema</a:t>
            </a:r>
          </a:p>
          <a:p>
            <a:pPr lvl="0"/>
            <a:r>
              <a:rPr/>
              <a:t>Cuida da qualidade, da segurança e da manutenção do que é construído</a:t>
            </a:r>
          </a:p>
          <a:p>
            <a:pPr lvl="0"/>
            <a:r>
              <a:rPr/>
              <a:t>Ajuda a estimar prazos e a identificar riscos antes que eles virem problemas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medir o sucesso de um produto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medir importa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Lançar um produto ou uma funcionalidade não é o fim da história, é o começo de uma nova etapa</a:t>
            </a:r>
          </a:p>
          <a:p>
            <a:pPr lvl="0"/>
            <a:r>
              <a:rPr/>
              <a:t>Sem números, decisões viram opinião: “eu acho que está indo bem” não é o mesmo que saber</a:t>
            </a:r>
          </a:p>
          <a:p>
            <a:pPr lvl="0"/>
            <a:r>
              <a:rPr/>
              <a:t>Métricas bem escolhidas mostram se o problema do cliente foi realmente resolvido</a:t>
            </a:r>
          </a:p>
          <a:p>
            <a:pPr lvl="0"/>
            <a:r>
              <a:rPr/>
              <a:t>É esse acompanhamento que fecha o ciclo de aprendizado visto no início desta conversa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grupos de métricas para acompanhar</a:t>
            </a:r>
          </a:p>
        </p:txBody>
      </p:sp>
      <p:pic>
        <p:nvPicPr>
          <p:cNvPr descr="assets/diagrama_metricas_sucess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68500"/>
            <a:ext cx="82296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Licenças ativas: quantidade não é 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Contar licenças ou usuários ativos é o primeiro passo, mas não o único</a:t>
            </a:r>
          </a:p>
          <a:p>
            <a:pPr lvl="0"/>
            <a:r>
              <a:rPr/>
              <a:t>Uma licença comprada e nunca usada é um sinal de alerta, não de sucesso</a:t>
            </a:r>
          </a:p>
          <a:p>
            <a:pPr lvl="0"/>
            <a:r>
              <a:rPr/>
              <a:t>O que importa é a proporção de usuários que voltam a usar o produto com frequência</a:t>
            </a:r>
          </a:p>
          <a:p>
            <a:pPr lvl="0"/>
            <a:r>
              <a:rPr/>
              <a:t>Esse número ajuda a antecipar cancelamentos antes que eles aconteçam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porcentagem de renovação: o termômetro do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Mede quantos clientes decidem continuar, quando chega a hora de renovar</a:t>
            </a:r>
          </a:p>
          <a:p>
            <a:pPr lvl="0"/>
            <a:r>
              <a:rPr/>
              <a:t>Uma renovação alta confirma que o produto entrega valor de forma consistente</a:t>
            </a:r>
          </a:p>
          <a:p>
            <a:pPr lvl="0"/>
            <a:r>
              <a:rPr/>
              <a:t>Uma renovação baixa é um alerta antecipado, mesmo que a venda inicial tenha sido um sucesso</a:t>
            </a:r>
          </a:p>
          <a:p>
            <a:pPr lvl="0"/>
            <a:r>
              <a:rPr/>
              <a:t>É a métrica mais próxima de uma resposta direta à pergunta: “o cliente pagaria por isso de novo?”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 com métricas de vaidade</a:t>
            </a:r>
          </a:p>
        </p:txBody>
      </p:sp>
      <p:pic>
        <p:nvPicPr>
          <p:cNvPr descr="assets/diagrama_metricas_vaidad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93900"/>
            <a:ext cx="82296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Transformando números em decisão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Escolher poucas métricas, bem definidas, vale mais do que acompanhar dezenas de números soltos</a:t>
            </a:r>
          </a:p>
          <a:p>
            <a:pPr lvl="0"/>
            <a:r>
              <a:rPr/>
              <a:t>Cada métrica deve ter um responsável e um motivo claro para existir</a:t>
            </a:r>
          </a:p>
          <a:p>
            <a:pPr lvl="0"/>
            <a:r>
              <a:rPr/>
              <a:t>Uma métrica só é útil se ela muda alguma decisão quando o número se move</a:t>
            </a:r>
          </a:p>
          <a:p>
            <a:pPr lvl="0"/>
            <a:r>
              <a:rPr/>
              <a:t>Revisar essas métricas com frequência é parte do trabalho, não uma tarefa extra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Product Owner, System Engineer e Tech Lead olham para o mesmo problema sob ângulos diferentes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Comprar ou construir depende do quanto a solução diferencia o negócio, e um modelo por assinatura vive da renovação</a:t>
            </a:r>
          </a:p>
          <a:p>
            <a:pPr lvl="0"/>
            <a:r>
              <a:rPr/>
              <a:t>Métricas de uso, receita e satisfação mostram se um produto está realmente funcionando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Um caso prático: juntando tudo o que vimos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detalhe importante: apólices também se renovam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Diferente de uma compra única, uma apólice de seguro é renovada periodicamente, quase sempre uma vez por ano</a:t>
            </a:r>
          </a:p>
          <a:p>
            <a:pPr lvl="0"/>
            <a:r>
              <a:rPr/>
              <a:t>Isso significa que os mesmos conceitos vistos em negócios por assinatura se aplicam aqui: uso, satisfação e, principalmente, renovação</a:t>
            </a:r>
          </a:p>
          <a:p>
            <a:pPr lvl="0"/>
            <a:r>
              <a:rPr/>
              <a:t>Cada renovação bem-sucedida garante receita futura; cada cancelamento é uma perda que poderia ter sido antecipada</a:t>
            </a:r>
          </a:p>
          <a:p>
            <a:pPr lvl="0"/>
            <a:r>
              <a:rPr/>
              <a:t>Por isso a NovaSeguro decide usar tecnologia não só para atender bem, mas para entender e influenciar essas renovações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Indo além: prevendo receita e risco de cancelamento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mesmo assistente passa a olhar para o histórico de uso e de relacionamento de cada cliente</a:t>
            </a:r>
          </a:p>
          <a:p>
            <a:pPr lvl="0"/>
            <a:r>
              <a:rPr/>
              <a:t>Com base nesses sinais, ele estima a chance de cada apólice ser renovada ou cancelada</a:t>
            </a:r>
          </a:p>
          <a:p>
            <a:pPr lvl="0"/>
            <a:r>
              <a:rPr/>
              <a:t>Essa estimativa alimenta uma projeção da receita futura da corretora, mês a mês</a:t>
            </a:r>
          </a:p>
          <a:p>
            <a:pPr lvl="0"/>
            <a:r>
              <a:rPr/>
              <a:t>Uma decisão antes baseada só em intuição passa a ser apoiada em dados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Antecipando a renovação, antes do cliente decidir</a:t>
            </a:r>
          </a:p>
        </p:txBody>
      </p:sp>
      <p:pic>
        <p:nvPicPr>
          <p:cNvPr descr="assets/diagrama_previsao_renovaca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66900"/>
            <a:ext cx="8229600" cy="400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 e preciso, com menos tempo de espera para o cliente</a:t>
            </a:r>
          </a:p>
          <a:p>
            <a:pPr lvl="0"/>
            <a:r>
              <a:rPr/>
              <a:t>Menos cancelamentos, porque sinais de risco são tratados antes do vencimento da apólice</a:t>
            </a:r>
          </a:p>
          <a:p>
            <a:pPr lvl="0"/>
            <a:r>
              <a:rPr/>
              <a:t>Previsão de receita mais confiável, o que ajuda o planejamento financeiro da corretora</a:t>
            </a:r>
          </a:p>
          <a:p>
            <a:pPr lvl="0"/>
            <a:r>
              <a:rPr/>
              <a:t>Decisões melhores, apoiadas em uma visão mais completa de cada cliente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previsão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O contato automático com o cliente precisa ser cuidadoso, sem parecer invasivo ou impessoal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2026-09-03T16:14:47Z</dcterms:created>
  <dcterms:modified xsi:type="dcterms:W3CDTF">2026-09-03T16:14:47Z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