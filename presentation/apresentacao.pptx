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57" Type="http://schemas.openxmlformats.org/officeDocument/2006/relationships/presProps" Target="presProps.xml" /><Relationship Id="rId58" Type="http://schemas.openxmlformats.org/officeDocument/2006/relationships/viewProps" Target="viewProps.xml" /><Relationship Id="rId59" Type="http://schemas.openxmlformats.org/officeDocument/2006/relationships/theme" Target="theme/theme1.xml" /><Relationship Id="rId6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4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Abertura: o objetivo desta conversa é desmistificar como um produto ou uma funcionalidade nasce, quem participa e como a inteligência artificial está mudando o que conseguimos entregar. Linguagem de negócio, sem jargão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Este é o mapa mental de toda a apresentação. Toda funcionalidade, por menor que seja, passa por essas seis etapas, e o aprendizado de uma rodada alimenta a próxima oportunidade.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de decidir construir algo internamente, toda empresa enfrenta essa escolha: pagar por uma solução que já existe no mercado ou investir tempo e time próprio para construir algo sob medida. Não existe resposta certa única; depende do quanto aquilo diferencia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Diferente de uma venda única, no modelo de assinatura a venda nunca termina de verdade. A cada ciclo, o cliente decide se continua ou não, e é essa decisão repetida que sustenta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Uma venda tradicional traz um caixa grande de uma vez só, mas que não se repete. Uma assinatura traz valores menores no começo, porém, se a renovação for saudável, a receita se acumula e ultrapassa a venda única com o tempo. Por isso empresas de assinatura acompanham de perto a taxa de renovação: é o que garante caixa no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Uso e adoção mostram se o produto está sendo aproveitado de verdade. Receita e retenção mostram a saúde financeira do negócio. Satisfação mostra se o cliente recomendaria o produto a outra pessoa. Os três juntos dão uma visão completa; olhar só para um deles esconde parte do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 tentador comemorar números grandes e visíveis, como total de downloads ou visitas. Mas esses números podem crescer mesmo que o produto não esteja gerando valor real. O time de negócio deve sempre perguntar: essa métrica prova que o cliente está satisfeito e vai continuar pagando?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o assistente busca em documentos relevantes antes de responder, como um bom atendente que consulta o manual certo. GraphRAG vai além: entende como as informações se conectam entre si, como um mapa de relacionamentos, o que ajuda a responder perguntas mais complexas.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o risco de cancelamento é baixo, o próprio sistema entra em contato com o cliente, lembrando do valor da apólice antes do vencimento. Quando o risco é alto ou o caso é mais sensível, a prioridade passa para um corretor humano, que consegue agir a tempo em vez de descobrir a perda só na hora da renovação.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Tudo que foi descrito até aqui não ficou só no conceito: esta é a página inicial real da ferramenta, já construída, com a mesma identidade visual usada nesta apresentação. A partir daqui, alguns prints do dia a dia de quem usa o copiloto.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47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sz="44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>
              <a:defRPr sz="38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8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1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Nascem os Produtos Digitais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problema ao lançamento, e o papel da inteligência artificial</a:t>
            </a:r>
            <a:br/>
            <a:br/>
            <a:r>
              <a:rPr/>
              <a:t>Engenharia de Software para o Negócio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Setembro de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 ideia ao produto no ar</a:t>
            </a:r>
          </a:p>
          <a:p>
            <a:pPr lvl="0"/>
            <a:r>
              <a:rPr/>
              <a:t>Quem faz o quê</a:t>
            </a:r>
          </a:p>
          <a:p>
            <a:pPr lvl="0"/>
            <a:r>
              <a:rPr/>
              <a:t>Trabalhando em ciclos rápidos</a:t>
            </a:r>
          </a:p>
          <a:p>
            <a:pPr lvl="0"/>
            <a:r>
              <a:rPr/>
              <a:t>Comprar ou construir a própria solução</a:t>
            </a:r>
          </a:p>
          <a:p>
            <a:pPr lvl="0"/>
            <a:r>
              <a:rPr/>
              <a:t>Como medir o sucesso de um produto</a:t>
            </a:r>
          </a:p>
          <a:p>
            <a:pPr lvl="0"/>
            <a:r>
              <a:rPr/>
              <a:t>Inteligência artificial no software</a:t>
            </a:r>
          </a:p>
          <a:p>
            <a:pPr lvl="0"/>
            <a:r>
              <a:rPr/>
              <a:t>Fechando com um caso prático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 ideia ao produto no 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chamamos de “produto” e de “funcionalidade”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Produto: a solução completa que entrega valor ao cliente (um aplicativo, um sistema, um serviço digital)</a:t>
            </a:r>
          </a:p>
          <a:p>
            <a:pPr lvl="0"/>
            <a:r>
              <a:rPr/>
              <a:t>Funcionalidade: uma capacidade específica dentro desse produto (por exemplo, “consultar uma apólice” ou “simular um seguro”)</a:t>
            </a:r>
          </a:p>
          <a:p>
            <a:pPr lvl="0"/>
            <a:r>
              <a:rPr/>
              <a:t>Todo produto é feito de várias funcionalidades, construídas e entregues aos poucos</a:t>
            </a:r>
          </a:p>
          <a:p>
            <a:pPr lvl="0"/>
            <a:r>
              <a:rPr/>
              <a:t>Cada uma delas passa por um ciclo parecido, do problema até o uso real pelo cliente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ciclo de vida, do início ao fim</a:t>
            </a:r>
          </a:p>
        </p:txBody>
      </p:sp>
      <p:pic>
        <p:nvPicPr>
          <p:cNvPr descr="assets/diagrama_ciclo_vid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044700"/>
            <a:ext cx="8229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Como nasce uma nova funcionalidade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Alguém identifica uma oportunidade: um problema do cliente, um pedido do mercado ou um número que chama atenção</a:t>
            </a:r>
          </a:p>
          <a:p>
            <a:pPr lvl="0"/>
            <a:r>
              <a:rPr/>
              <a:t>Essa oportunidade vira uma hipótese: “se resolvermos isso, geramos este resultado”</a:t>
            </a:r>
          </a:p>
          <a:p>
            <a:pPr lvl="0"/>
            <a:r>
              <a:rPr/>
              <a:t>As hipóteses são priorizadas: nem tudo pode ser feito ao mesmo tempo, então escolhemos o que traz mais valor primeiro</a:t>
            </a:r>
          </a:p>
          <a:p>
            <a:pPr lvl="0"/>
            <a:r>
              <a:rPr/>
              <a:t>Só depois disso o time começa a desenhar a solução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definição ao lançamento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solução é desenhada em conjunto, com entradas de negócio e de tecnologia</a:t>
            </a:r>
          </a:p>
          <a:p>
            <a:pPr lvl="0"/>
            <a:r>
              <a:rPr/>
              <a:t>A construção acontece em pedaços pequenos, não em um único bloco gigante</a:t>
            </a:r>
          </a:p>
          <a:p>
            <a:pPr lvl="0"/>
            <a:r>
              <a:rPr/>
              <a:t>Cada pedaço é testado com usuários reais antes de seguir adiante</a:t>
            </a:r>
          </a:p>
          <a:p>
            <a:pPr lvl="0"/>
            <a:r>
              <a:rPr/>
              <a:t>O lançamento costuma ser gradual: primeiro para poucos clientes, depois para todos</a:t>
            </a:r>
          </a:p>
          <a:p>
            <a:pPr lvl="0"/>
            <a:r>
              <a:rPr/>
              <a:t>Depois de lançado, os resultados são acompanhados de perto para decidir os próximos passos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Quem faz o quê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papéis, um objetivo em comum</a:t>
            </a:r>
          </a:p>
        </p:txBody>
      </p:sp>
      <p:pic>
        <p:nvPicPr>
          <p:cNvPr descr="assets/diagrama_pape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368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Owner: a voz do negócio e do cliente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Entende profundamente o cliente, o mercado e a estratégia do negócio</a:t>
            </a:r>
          </a:p>
          <a:p>
            <a:pPr lvl="0"/>
            <a:r>
              <a:rPr/>
              <a:t>Decide o que deve ser feito primeiro, com base no valor gerado</a:t>
            </a:r>
          </a:p>
          <a:p>
            <a:pPr lvl="0"/>
            <a:r>
              <a:rPr/>
              <a:t>É o ponto de contato entre as áreas de negócio e o time que constrói a solução</a:t>
            </a:r>
          </a:p>
          <a:p>
            <a:pPr lvl="0"/>
            <a:r>
              <a:rPr/>
              <a:t>Garante que o time esteja sempre resolvendo o problema certo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Engineer: a costura entre os sistemas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Olha para o produto de forma ampla, além de uma única funcionalidade</a:t>
            </a:r>
          </a:p>
          <a:p>
            <a:pPr lvl="0"/>
            <a:r>
              <a:rPr/>
              <a:t>Garante que as diferentes partes do sistema conversem entre si sem atrito</a:t>
            </a:r>
          </a:p>
          <a:p>
            <a:pPr lvl="0"/>
            <a:r>
              <a:rPr/>
              <a:t>Cuida da integração com sistemas de parceiros e de outras áreas da empresa</a:t>
            </a:r>
          </a:p>
          <a:p>
            <a:pPr lvl="0"/>
            <a:r>
              <a:rPr/>
              <a:t>Pensa em crescimento futuro: a solução precisa continuar funcionando bem quando o uso aumentar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Lead: qualidade e liderança técnica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Lidera o time responsável por construir a solução no dia a dia</a:t>
            </a:r>
          </a:p>
          <a:p>
            <a:pPr lvl="0"/>
            <a:r>
              <a:rPr/>
              <a:t>Decide, junto com o time, a melhor forma técnica de resolver cada problema</a:t>
            </a:r>
          </a:p>
          <a:p>
            <a:pPr lvl="0"/>
            <a:r>
              <a:rPr/>
              <a:t>Cuida da qualidade, da segurança e da manutenção do que é construído</a:t>
            </a:r>
          </a:p>
          <a:p>
            <a:pPr lvl="0"/>
            <a:r>
              <a:rPr/>
              <a:t>Ajuda a estimar prazos e a identificar riscos antes que eles virem problemas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Trabalhando em ciclos rápidos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são metodologias ágeis, em termos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São formas de organizar o trabalho em ciclos curtos, em vez de um grande projeto fechado</a:t>
            </a:r>
          </a:p>
          <a:p>
            <a:pPr lvl="0"/>
            <a:r>
              <a:rPr/>
              <a:t>A cada ciclo, o time entrega algo que pode ser mostrado e avaliado</a:t>
            </a:r>
          </a:p>
          <a:p>
            <a:pPr lvl="0"/>
            <a:r>
              <a:rPr/>
              <a:t>O plano se ajusta com frequência, a partir do que se aprende com clientes reais</a:t>
            </a:r>
          </a:p>
          <a:p>
            <a:pPr lvl="0"/>
            <a:r>
              <a:rPr/>
              <a:t>O objetivo é reduzir o risco de investir muito tempo em algo que o mercado não quer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Pequenas entregas, feedback constante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trabalho é dividido em ciclos de poucas semanas</a:t>
            </a:r>
          </a:p>
          <a:p>
            <a:pPr lvl="0"/>
            <a:r>
              <a:rPr/>
              <a:t>Ao final de cada ciclo, o time mostra o que foi construído e recebe feedback</a:t>
            </a:r>
          </a:p>
          <a:p>
            <a:pPr lvl="0"/>
            <a:r>
              <a:rPr/>
              <a:t>Problemas são identificados cedo, quando ainda são baratos e fáceis de corrigir</a:t>
            </a:r>
          </a:p>
          <a:p>
            <a:pPr lvl="0"/>
            <a:r>
              <a:rPr/>
              <a:t>A equipe de negócio acompanha o progresso de perto, sem surpresas no final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Ciclo de validação rápida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Antes de construir a solução completa, testamos uma versão simples da ideia</a:t>
            </a:r>
          </a:p>
          <a:p>
            <a:pPr lvl="0"/>
            <a:r>
              <a:rPr/>
              <a:t>Essa versão é colocada na frente de clientes reais o quanto antes</a:t>
            </a:r>
          </a:p>
          <a:p>
            <a:pPr lvl="0"/>
            <a:r>
              <a:rPr/>
              <a:t>Os resultados reais substituem suposições: aprendemos o que funciona de verdade</a:t>
            </a:r>
          </a:p>
          <a:p>
            <a:pPr lvl="0"/>
            <a:r>
              <a:rPr/>
              <a:t>Só investimos pesado depois de validar que a ideia gera o resultado esperado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isso importa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Reduz o risco de gastar tempo e dinheiro em algo que ninguém vai usar</a:t>
            </a:r>
          </a:p>
          <a:p>
            <a:pPr lvl="0"/>
            <a:r>
              <a:rPr/>
              <a:t>Acelera o tempo entre a ideia e o valor entregue ao cliente</a:t>
            </a:r>
          </a:p>
          <a:p>
            <a:pPr lvl="0"/>
            <a:r>
              <a:rPr/>
              <a:t>Dá visibilidade constante ao negócio sobre o andamento do trabalho</a:t>
            </a:r>
          </a:p>
          <a:p>
            <a:pPr lvl="0"/>
            <a:r>
              <a:rPr/>
              <a:t>Permite mudar de direção rapidamente quando o mercado muda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Comprar ou construir a própria solução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resolver o mesmo problema</a:t>
            </a:r>
          </a:p>
        </p:txBody>
      </p:sp>
      <p:pic>
        <p:nvPicPr>
          <p:cNvPr descr="assets/diagrama_comprar_construi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33600"/>
            <a:ext cx="8229600" cy="345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comprar uma solução pronta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problema já foi resolvido por outras empresas de forma madura e testada</a:t>
            </a:r>
          </a:p>
          <a:p>
            <a:pPr lvl="0"/>
            <a:r>
              <a:rPr/>
              <a:t>A velocidade de implantação importa mais do que a personalização</a:t>
            </a:r>
          </a:p>
          <a:p>
            <a:pPr lvl="0"/>
            <a:r>
              <a:rPr/>
              <a:t>O time interno pode focar energia no que realmente diferencia o negócio</a:t>
            </a:r>
          </a:p>
          <a:p>
            <a:pPr lvl="0"/>
            <a:r>
              <a:rPr/>
              <a:t>O custo inicial é mais previsível e geralmente mais baixo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construir a própria solução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necessidade é muito específica do negócio, e não existe solução pronta parecida</a:t>
            </a:r>
          </a:p>
          <a:p>
            <a:pPr lvl="0"/>
            <a:r>
              <a:rPr/>
              <a:t>Essa capacidade é uma vantagem competitiva que vale a pena proteger</a:t>
            </a:r>
          </a:p>
          <a:p>
            <a:pPr lvl="0"/>
            <a:r>
              <a:rPr/>
              <a:t>Há dependência de integração profunda com outros sistemas internos</a:t>
            </a:r>
          </a:p>
          <a:p>
            <a:pPr lvl="0"/>
            <a:r>
              <a:rPr/>
              <a:t>No longo prazo, construir pode custar menos do que pagar por uso crescente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crescimento das assinaturas (SaaS)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Cada vez mais empresas oferecem software como um serviço por assinatura, em vez de vender uma licença única</a:t>
            </a:r>
          </a:p>
          <a:p>
            <a:pPr lvl="0"/>
            <a:r>
              <a:rPr/>
              <a:t>O cliente paga um valor recorrente, geralmente mensal ou anual, para continuar usando</a:t>
            </a:r>
          </a:p>
          <a:p>
            <a:pPr lvl="0"/>
            <a:r>
              <a:rPr/>
              <a:t>Isso reduz o investimento inicial de quem compra, e cria uma receita previsível para quem vende</a:t>
            </a:r>
          </a:p>
          <a:p>
            <a:pPr lvl="0"/>
            <a:r>
              <a:rPr/>
              <a:t>O sucesso desse modelo depende de uma coisa acima de tudo: o cliente continuar renovando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coração do modelo: a renovação</a:t>
            </a:r>
          </a:p>
        </p:txBody>
      </p:sp>
      <p:pic>
        <p:nvPicPr>
          <p:cNvPr descr="assets/diagrama_ciclo_assinatur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03400"/>
            <a:ext cx="82296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o fluxo de caixa muda tanto</a:t>
            </a:r>
          </a:p>
        </p:txBody>
      </p:sp>
      <p:pic>
        <p:nvPicPr>
          <p:cNvPr descr="assets/diagrama_fluxo_caixa_sa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65300"/>
            <a:ext cx="82296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isso significa para quem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Comprar ou construir depende do quanto aquela solução diferencia o negócio, não só do preço</a:t>
            </a:r>
          </a:p>
          <a:p>
            <a:pPr lvl="0"/>
            <a:r>
              <a:rPr/>
              <a:t>Um contrato de assinatura troca um gasto grande e único por um compromisso contínuo</a:t>
            </a:r>
          </a:p>
          <a:p>
            <a:pPr lvl="0"/>
            <a:r>
              <a:rPr/>
              <a:t>A saúde financeira de um negócio de assinatura se mede pela renovação, não só pela venda inicial</a:t>
            </a:r>
          </a:p>
          <a:p>
            <a:pPr lvl="0"/>
            <a:r>
              <a:rPr/>
              <a:t>Cancelamentos custam caro: cada cliente perdido reduz a receita futura já esperada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medir o sucesso de um produto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medir importa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Lançar um produto ou uma funcionalidade não é o fim da história, é o começo de uma nova etapa</a:t>
            </a:r>
          </a:p>
          <a:p>
            <a:pPr lvl="0"/>
            <a:r>
              <a:rPr/>
              <a:t>Sem números, decisões viram opinião: “eu acho que está indo bem” não é o mesmo que saber</a:t>
            </a:r>
          </a:p>
          <a:p>
            <a:pPr lvl="0"/>
            <a:r>
              <a:rPr/>
              <a:t>Métricas bem escolhidas mostram se o problema do cliente foi realmente resolvido</a:t>
            </a:r>
          </a:p>
          <a:p>
            <a:pPr lvl="0"/>
            <a:r>
              <a:rPr/>
              <a:t>É esse acompanhamento que fecha o ciclo de aprendizado visto no início desta conversa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grupos de métricas para acompanhar</a:t>
            </a:r>
          </a:p>
        </p:txBody>
      </p:sp>
      <p:pic>
        <p:nvPicPr>
          <p:cNvPr descr="assets/diagrama_metricas_sucess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68500"/>
            <a:ext cx="82296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Licenças ativas: quantidade não é tudo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Contar licenças ou usuários ativos é o primeiro passo, mas não o único</a:t>
            </a:r>
          </a:p>
          <a:p>
            <a:pPr lvl="0"/>
            <a:r>
              <a:rPr/>
              <a:t>Uma licença comprada e nunca usada é um sinal de alerta, não de sucesso</a:t>
            </a:r>
          </a:p>
          <a:p>
            <a:pPr lvl="0"/>
            <a:r>
              <a:rPr/>
              <a:t>O que importa é a proporção de usuários que voltam a usar o produto com frequência</a:t>
            </a:r>
          </a:p>
          <a:p>
            <a:pPr lvl="0"/>
            <a:r>
              <a:rPr/>
              <a:t>Esse número ajuda a antecipar cancelamentos antes que eles aconteçam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porcentagem de renovação: o termômetro do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Mede quantos clientes decidem continuar, quando chega a hora de renovar</a:t>
            </a:r>
          </a:p>
          <a:p>
            <a:pPr lvl="0"/>
            <a:r>
              <a:rPr/>
              <a:t>Uma renovação alta confirma que o produto entrega valor de forma consistente</a:t>
            </a:r>
          </a:p>
          <a:p>
            <a:pPr lvl="0"/>
            <a:r>
              <a:rPr/>
              <a:t>Uma renovação baixa é um alerta antecipado, mesmo que a venda inicial tenha sido um sucesso</a:t>
            </a:r>
          </a:p>
          <a:p>
            <a:pPr lvl="0"/>
            <a:r>
              <a:rPr/>
              <a:t>É a métrica mais próxima de uma resposta direta à pergunta: “o cliente pagaria por isso de novo?”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 com métricas de vaidade</a:t>
            </a:r>
          </a:p>
        </p:txBody>
      </p:sp>
      <p:pic>
        <p:nvPicPr>
          <p:cNvPr descr="assets/diagrama_metricas_vaidad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93900"/>
            <a:ext cx="82296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Transformando números em decisão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Escolher poucas métricas, bem definidas, vale mais do que acompanhar dezenas de números soltos</a:t>
            </a:r>
          </a:p>
          <a:p>
            <a:pPr lvl="0"/>
            <a:r>
              <a:rPr/>
              <a:t>Cada métrica deve ter um responsável e um motivo claro para existir</a:t>
            </a:r>
          </a:p>
          <a:p>
            <a:pPr lvl="0"/>
            <a:r>
              <a:rPr/>
              <a:t>Uma métrica só é útil se ela muda alguma decisão quando o número se move</a:t>
            </a:r>
          </a:p>
          <a:p>
            <a:pPr lvl="0"/>
            <a:r>
              <a:rPr/>
              <a:t>Revisar essas métricas com frequência é parte do trabalho, não uma tarefa extra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Inteligência artificial no software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como uma nova camada dos produtos digitais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Até pouco tempo atrás, sistemas seguiam apenas regras fixas, escritas por pessoas</a:t>
            </a:r>
          </a:p>
          <a:p>
            <a:pPr lvl="0"/>
            <a:r>
              <a:rPr/>
              <a:t>Hoje, a inteligência artificial permite que sistemas entendam linguagem natural e respondam de forma mais flexível</a:t>
            </a:r>
          </a:p>
          <a:p>
            <a:pPr lvl="0"/>
            <a:r>
              <a:rPr/>
              <a:t>Isso abre espaço para assistentes que conversam com o cliente, resumem informações e ajudam pessoas a decidir mais rápido</a:t>
            </a:r>
          </a:p>
          <a:p>
            <a:pPr lvl="0"/>
            <a:r>
              <a:rPr/>
              <a:t>O desafio deixou de ser “o sistema entende o pedido?” e passou a ser “a resposta é confiável?”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a IA consultar informação</a:t>
            </a:r>
          </a:p>
        </p:txBody>
      </p:sp>
      <p:pic>
        <p:nvPicPr>
          <p:cNvPr descr="assets/diagrama_rag_graphra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200"/>
            <a:ext cx="82296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Mensagens-chave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vale levar desta conversa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Todo produto e toda funcionalidade seguem um ciclo, da oportunidade ao aprendizado</a:t>
            </a:r>
          </a:p>
          <a:p>
            <a:pPr lvl="0"/>
            <a:r>
              <a:rPr/>
              <a:t>Product Owner, System Engineer e Tech Lead olham para o mesmo problema sob ângulos diferentes</a:t>
            </a:r>
          </a:p>
          <a:p>
            <a:pPr lvl="0"/>
            <a:r>
              <a:rPr/>
              <a:t>Ciclos curtos e validação rápida reduzem risco e aceleram resultados</a:t>
            </a:r>
          </a:p>
          <a:p>
            <a:pPr lvl="0"/>
            <a:r>
              <a:rPr/>
              <a:t>Comprar ou construir depende do quanto a solução diferencia o negócio, e um modelo por assinatura vive da renovação</a:t>
            </a:r>
          </a:p>
          <a:p>
            <a:pPr lvl="0"/>
            <a:r>
              <a:rPr/>
              <a:t>Métricas de uso, receita e satisfação mostram se um produto está realmente funcionando</a:t>
            </a:r>
          </a:p>
          <a:p>
            <a:pPr lvl="0"/>
            <a:r>
              <a:rPr/>
              <a:t>A inteligência artificial adiciona uma nova camada de valor, mas exige dados confiáveis e boa governança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Um caso prático: juntando tudo o que vimos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contexto: NovaSeguro Corretora (exemplo fictício)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NovaSeguro trabalha com várias seguradoras parceiras ao mesmo tempo</a:t>
            </a:r>
          </a:p>
          <a:p>
            <a:pPr lvl="0"/>
            <a:r>
              <a:rPr/>
              <a:t>Cada seguradora tem suas próprias regras, apólices, coberturas e prazos</a:t>
            </a:r>
          </a:p>
          <a:p>
            <a:pPr lvl="0"/>
            <a:r>
              <a:rPr/>
              <a:t>Os corretores precisam responder perguntas de clientes com rapidez e precisão</a:t>
            </a:r>
          </a:p>
          <a:p>
            <a:pPr lvl="0"/>
            <a:r>
              <a:rPr/>
              <a:t>Hoje, essa informação está espalhada entre manuais, planilhas e sistemas diferentes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desafio do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Encontrar a informação certa toma tempo e depende de quem está de plantão</a:t>
            </a:r>
          </a:p>
          <a:p>
            <a:pPr lvl="0"/>
            <a:r>
              <a:rPr/>
              <a:t>É difícil comparar coberturas entre seguradoras diferentes na hora da conversa com o cliente</a:t>
            </a:r>
          </a:p>
          <a:p>
            <a:pPr lvl="0"/>
            <a:r>
              <a:rPr/>
              <a:t>Perguntas mais complexas, como possíveis sobreposições de cobertura, quase nunca são respondidas na hora</a:t>
            </a:r>
          </a:p>
          <a:p>
            <a:pPr lvl="0"/>
            <a:r>
              <a:rPr/>
              <a:t>O resultado é atendimento mais lento e risco de informação incorreta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detalhe importante: apólices também se renovam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Diferente de uma compra única, uma apólice de seguro é renovada periodicamente, quase sempre uma vez por ano</a:t>
            </a:r>
          </a:p>
          <a:p>
            <a:pPr lvl="0"/>
            <a:r>
              <a:rPr/>
              <a:t>Isso significa que os mesmos conceitos vistos em negócios por assinatura se aplicam aqui: uso, satisfação e, principalmente, renovação</a:t>
            </a:r>
          </a:p>
          <a:p>
            <a:pPr lvl="0"/>
            <a:r>
              <a:rPr/>
              <a:t>Cada renovação bem-sucedida garante receita futura; cada cancelamento é uma perda que poderia ter sido antecipada</a:t>
            </a:r>
          </a:p>
          <a:p>
            <a:pPr lvl="0"/>
            <a:r>
              <a:rPr/>
              <a:t>Por isso a NovaSeguro decide usar tecnologia não só para atender bem, mas para entender e influenciar essas renovações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solução: um assistente inteligente para os corretores</a:t>
            </a:r>
          </a:p>
        </p:txBody>
      </p:sp>
      <p:pic>
        <p:nvPicPr>
          <p:cNvPr descr="assets/diagrama_fluxo_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30400"/>
            <a:ext cx="8229600" cy="386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Começando simples: consulta a documentos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assistente é treinado para consultar manuais, apólices e contratos das seguradoras parceiras</a:t>
            </a:r>
          </a:p>
          <a:p>
            <a:pPr lvl="0"/>
            <a:r>
              <a:rPr/>
              <a:t>Quando o corretor faz uma pergunta, ele busca a informação nos documentos certos</a:t>
            </a:r>
          </a:p>
          <a:p>
            <a:pPr lvl="0"/>
            <a:r>
              <a:rPr/>
              <a:t>A resposta sempre indica de onde veio a informação, para gerar confiança</a:t>
            </a:r>
          </a:p>
          <a:p>
            <a:pPr lvl="0"/>
            <a:r>
              <a:rPr/>
              <a:t>Essa é a base: uma forma de a IA responder com apoio em fontes confiáveis, e não apenas “adivinhar”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Evoluindo: entendendo as conexões entre as informações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 o tempo, a NovaSeguro passa a mapear como as informações se relacionam: clientes, apólices, coberturas, sinistros e seguradoras</a:t>
            </a:r>
          </a:p>
          <a:p>
            <a:pPr lvl="0"/>
            <a:r>
              <a:rPr/>
              <a:t>Isso permite responder perguntas mais ricas, como identificar sobreposições de cobertura entre seguradoras diferentes</a:t>
            </a:r>
          </a:p>
          <a:p>
            <a:pPr lvl="0"/>
            <a:r>
              <a:rPr/>
              <a:t>O assistente passa a enxergar o panorama completo do cliente, e não apenas um documento isolado</a:t>
            </a:r>
          </a:p>
          <a:p>
            <a:pPr lvl="0"/>
            <a:r>
              <a:rPr/>
              <a:t>É um salto de “responder perguntas” para “gerar recomendações de negócio”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Indo além: prevendo receita e risco de cancelamento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mesmo assistente passa a olhar para o histórico de uso e de relacionamento de cada cliente</a:t>
            </a:r>
          </a:p>
          <a:p>
            <a:pPr lvl="0"/>
            <a:r>
              <a:rPr/>
              <a:t>Com base nesses sinais, ele estima a chance de cada apólice ser renovada ou cancelada</a:t>
            </a:r>
          </a:p>
          <a:p>
            <a:pPr lvl="0"/>
            <a:r>
              <a:rPr/>
              <a:t>Essa estimativa alimenta uma projeção da receita futura da corretora, mês a mês</a:t>
            </a:r>
          </a:p>
          <a:p>
            <a:pPr lvl="0"/>
            <a:r>
              <a:rPr/>
              <a:t>Uma decisão antes baseada só em intuição passa a ser apoiada em dados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Antecipando a renovação, antes do cliente decidir</a:t>
            </a:r>
          </a:p>
        </p:txBody>
      </p:sp>
      <p:pic>
        <p:nvPicPr>
          <p:cNvPr descr="assets/diagrama_previsao_renovaca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66900"/>
            <a:ext cx="8229600" cy="400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papel para a tela: a ferramenta em produção</a:t>
            </a:r>
          </a:p>
        </p:txBody>
      </p:sp>
      <p:pic>
        <p:nvPicPr>
          <p:cNvPr descr="assets/screenshots/app_ho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Painel do corretor, com dados reais da carteira</a:t>
            </a:r>
          </a:p>
        </p:txBody>
      </p:sp>
      <p:pic>
        <p:nvPicPr>
          <p:cNvPr descr="assets/screenshots/app_dash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Conversando com o copiloto de IA</a:t>
            </a:r>
          </a:p>
        </p:txBody>
      </p:sp>
      <p:pic>
        <p:nvPicPr>
          <p:cNvPr descr="assets/screenshots/app_cha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Visão da carteira de clientes</a:t>
            </a:r>
          </a:p>
        </p:txBody>
      </p:sp>
      <p:pic>
        <p:nvPicPr>
          <p:cNvPr descr="assets/screenshots/app_clien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Enviando apólices em PDF para a base de conhecimento</a:t>
            </a:r>
          </a:p>
        </p:txBody>
      </p:sp>
      <p:pic>
        <p:nvPicPr>
          <p:cNvPr descr="assets/screenshots/app_document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Benefícios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Atendimento mais rápido e preciso, com menos tempo de espera para o cliente</a:t>
            </a:r>
          </a:p>
          <a:p>
            <a:pPr lvl="0"/>
            <a:r>
              <a:rPr/>
              <a:t>Menos cancelamentos, porque sinais de risco são tratados antes do vencimento da apólice</a:t>
            </a:r>
          </a:p>
          <a:p>
            <a:pPr lvl="0"/>
            <a:r>
              <a:rPr/>
              <a:t>Previsão de receita mais confiável, o que ajuda o planejamento financeiro da corretora</a:t>
            </a:r>
          </a:p>
          <a:p>
            <a:pPr lvl="0"/>
            <a:r>
              <a:rPr/>
              <a:t>Decisões melhores, apoiadas em uma visão mais completa de cada cliente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Cuidados importantes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qualidade da previsão depende da qualidade dos dados usados como fonte</a:t>
            </a:r>
          </a:p>
          <a:p>
            <a:pPr lvl="0"/>
            <a:r>
              <a:rPr/>
              <a:t>Pessoas continuam responsáveis por revisar decisões de maior impacto</a:t>
            </a:r>
          </a:p>
          <a:p>
            <a:pPr lvl="0"/>
            <a:r>
              <a:rPr/>
              <a:t>O contato automático com o cliente precisa ser cuidadoso, sem parecer invasivo ou impessoal</a:t>
            </a:r>
          </a:p>
          <a:p>
            <a:pPr lvl="0"/>
            <a:r>
              <a:rPr/>
              <a:t>Inteligência artificial é uma ferramenta poderosa, mas não substitui a governança do negócio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Obrigado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2B2B33"/>
      </a:dk1>
      <a:lt1>
        <a:srgbClr val="FFFFFF"/>
      </a:lt1>
      <a:dk2>
        <a:srgbClr val="1E2761"/>
      </a:dk2>
      <a:lt2>
        <a:srgbClr val="CADCFC"/>
      </a:lt2>
      <a:accent1>
        <a:srgbClr val="1E2761"/>
      </a:accent1>
      <a:accent2>
        <a:srgbClr val="CADCFC"/>
      </a:accent2>
      <a:accent3>
        <a:srgbClr val="E8A33D"/>
      </a:accent3>
      <a:accent4>
        <a:srgbClr val="3A4A9E"/>
      </a:accent4>
      <a:accent5>
        <a:srgbClr val="8FA9E8"/>
      </a:accent5>
      <a:accent6>
        <a:srgbClr val="6B7280"/>
      </a:accent6>
      <a:hlink>
        <a:srgbClr val="1E2761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Nascem os Produtos Digitais</dc:title>
  <dc:creator>Engenharia de Software para o Negócio</dc:creator>
  <cp:keywords/>
  <dcterms:created xsi:type="dcterms:W3CDTF">2026-09-03T20:43:27Z</dcterms:created>
  <dcterms:modified xsi:type="dcterms:W3CDTF">2026-09-03T20:43:27Z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Setembro de 2026</vt:lpwstr>
  </property>
  <property fmtid="{D5CDD505-2E9C-101B-9397-08002B2CF9AE}" pid="3" name="subtitle">
    <vt:lpwstr>Do problema ao lançamento, e o papel da inteligência artificial</vt:lpwstr>
  </property>
</Properties>
</file>